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73dd87e1e2645b0" /><Relationship Type="http://schemas.openxmlformats.org/officeDocument/2006/relationships/extended-properties" Target="/docProps/app.xml" Id="R7c22fbe75a024633" /><Relationship Type="http://schemas.openxmlformats.org/officeDocument/2006/relationships/officeDocument" Target="/ppt/presentation.xml" Id="R43860d87950a44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20507b644746a1"/>
  </p:sldMasterIdLst>
  <p:notesMasterIdLst>
    <p:notesMasterId xmlns:r="http://schemas.openxmlformats.org/officeDocument/2006/relationships" r:id="Rb53233c1b4aa4fca"/>
  </p:notesMasterIdLst>
  <p:sldIdLst>
    <p:sldId xmlns:r="http://schemas.openxmlformats.org/officeDocument/2006/relationships" id="256" r:id="R2be989e3af904713"/>
    <p:sldId xmlns:r="http://schemas.openxmlformats.org/officeDocument/2006/relationships" id="257" r:id="R645a872a85c74fc9"/>
    <p:sldId xmlns:r="http://schemas.openxmlformats.org/officeDocument/2006/relationships" id="258" r:id="Ra8c4a2fe28574b20"/>
    <p:sldId xmlns:r="http://schemas.openxmlformats.org/officeDocument/2006/relationships" id="259" r:id="Re56e37c0602348db"/>
    <p:sldId xmlns:r="http://schemas.openxmlformats.org/officeDocument/2006/relationships" id="260" r:id="Rdf891edb5b9246c6"/>
    <p:sldId xmlns:r="http://schemas.openxmlformats.org/officeDocument/2006/relationships" id="261" r:id="Rba161a30b6734eb4"/>
    <p:sldId xmlns:r="http://schemas.openxmlformats.org/officeDocument/2006/relationships" id="262" r:id="Raa232febd1304e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f2f5ac4aca4d7a" /><Relationship Type="http://schemas.openxmlformats.org/officeDocument/2006/relationships/slideMaster" Target="/ppt/slideMasters/slideMaster1.xml" Id="R5020507b644746a1" /><Relationship Type="http://schemas.openxmlformats.org/officeDocument/2006/relationships/notesMaster" Target="/ppt/notesMasters/notesMaster1.xml" Id="Rb53233c1b4aa4fca" /><Relationship Type="http://schemas.openxmlformats.org/officeDocument/2006/relationships/presProps" Target="/ppt/presProps.xml" Id="R3a95df8185d04336" /><Relationship Type="http://schemas.openxmlformats.org/officeDocument/2006/relationships/tableStyles" Target="/ppt/tableStyles.xml" Id="Ra624b1e69ff743be" /><Relationship Type="http://schemas.openxmlformats.org/officeDocument/2006/relationships/slide" Target="/ppt/slides/slide1.xml" Id="R2be989e3af904713" /><Relationship Type="http://schemas.openxmlformats.org/officeDocument/2006/relationships/slide" Target="/ppt/slides/slide2.xml" Id="R645a872a85c74fc9" /><Relationship Type="http://schemas.openxmlformats.org/officeDocument/2006/relationships/slide" Target="/ppt/slides/slide3.xml" Id="Ra8c4a2fe28574b20" /><Relationship Type="http://schemas.openxmlformats.org/officeDocument/2006/relationships/slide" Target="/ppt/slides/slide4.xml" Id="Re56e37c0602348db" /><Relationship Type="http://schemas.openxmlformats.org/officeDocument/2006/relationships/slide" Target="/ppt/slides/slide5.xml" Id="Rdf891edb5b9246c6" /><Relationship Type="http://schemas.openxmlformats.org/officeDocument/2006/relationships/slide" Target="/ppt/slides/slide6.xml" Id="Rba161a30b6734eb4" /><Relationship Type="http://schemas.openxmlformats.org/officeDocument/2006/relationships/slide" Target="/ppt/slides/slide7.xml" Id="Raa232febd1304e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b08929d71a49c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d51f8c8b5bf4a8a" /><Relationship Type="http://schemas.openxmlformats.org/officeDocument/2006/relationships/notesMaster" Target="/ppt/notesMasters/notesMaster1.xml" Id="R5242c5a3c4a24d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e47c0b5ec94b52" /><Relationship Type="http://schemas.openxmlformats.org/officeDocument/2006/relationships/notesMaster" Target="/ppt/notesMasters/notesMaster1.xml" Id="R8cc54a4d1a3a4d2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26e4fcacae4fe4" /><Relationship Type="http://schemas.openxmlformats.org/officeDocument/2006/relationships/notesMaster" Target="/ppt/notesMasters/notesMaster1.xml" Id="R9fa6695fadb84b8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9345fc4d654409" /><Relationship Type="http://schemas.openxmlformats.org/officeDocument/2006/relationships/notesMaster" Target="/ppt/notesMasters/notesMaster1.xml" Id="R547a260ea4c34bd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86341213f048ee" /><Relationship Type="http://schemas.openxmlformats.org/officeDocument/2006/relationships/notesMaster" Target="/ppt/notesMasters/notesMaster1.xml" Id="Re27c8b5ee06e464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bab1ca818f744bd" /><Relationship Type="http://schemas.openxmlformats.org/officeDocument/2006/relationships/notesMaster" Target="/ppt/notesMasters/notesMaster1.xml" Id="R14b1bf5bb17e42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f06199de2f4b46" /><Relationship Type="http://schemas.openxmlformats.org/officeDocument/2006/relationships/notesMaster" Target="/ppt/notesMasters/notesMaster1.xml" Id="Rbd5aa64ec1ca4c6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Visual: OpenAI ImageGen, dibuat khusus untuk deck ini. Ilustratif; bukan hasil inferensi sistem aktif.</a:t>
            </a:r>
          </a:p>
          <a:p xmlns:a="http://schemas.openxmlformats.org/drawingml/2006/main">
            <a:r>
              <a:t>- Scope: rancangan fitur berdasarkan permintaan dokumentasi; kode ENTOK saat ini belum memuat model YOLO.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code: backend/app/__init__.py; backend/app/models/__init__.py; backend/app/models/population.py; frontend/src/services/systemHealth.ts.</a:t>
            </a:r>
          </a:p>
          <a:p xmlns:a="http://schemas.openxmlformats.org/drawingml/2006/main">
            <a:r>
              <a:t>- Local dependency check: backend/requirements.txt tidak mencantumkan Ultralytics/YOLO.</a:t>
            </a:r>
          </a:p>
          <a:p xmlns:a="http://schemas.openxmlformats.org/drawingml/2006/main">
            <a:r>
              <a:t>- Runtime check: docker compose ps, 18 Aug 2026 — Docker daemon tidak tersedia pada saat pemeriksaan.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Ultralytics Object Detection: https://docs.ultralytics.com/tasks/detect — keluaran deteksi mencakup bounding boxes, class labels, dan confidence scores.</a:t>
            </a:r>
          </a:p>
          <a:p xmlns:a="http://schemas.openxmlformats.org/drawingml/2006/main">
            <a:r>
              <a:t>- Aset visual: frontend/public/images/muscovy_duck_home.png (local project asset).</a:t>
            </a:r>
          </a:p>
          <a:p xmlns:a="http://schemas.openxmlformats.org/drawingml/2006/main">
            <a:r>
              <a:t>- Interpretasi dan batas diagnosis adalah rancangan keselamatan produk, bukan klaim kemampuan klinis model.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Ultralytics Predict: https://docs.ultralytics.com/modes/predict — inferensi dapat menggunakan gambar, video, dan stream.</a:t>
            </a:r>
          </a:p>
          <a:p xmlns:a="http://schemas.openxmlformats.org/drawingml/2006/main">
            <a:r>
              <a:t>- Alur API, database, dan tinjauan adalah rancangan usulan untuk stack Flask + SQLAlchemy ENTOK.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schema: backend/app/models/population.py — populations memiliki id, phase_id, phase, total_ducks, updated_at.</a:t>
            </a:r>
          </a:p>
          <a:p xmlns:a="http://schemas.openxmlformats.org/drawingml/2006/main">
            <a:r>
              <a:t>- health_checks dan health_detections adalah tabel USULAN untuk fitur ini; belum ada di backend/app/models/__init__.py.</a:t>
            </a:r>
          </a:p>
          <a:p xmlns:a="http://schemas.openxmlformats.org/drawingml/2006/main">
            <a:r>
              <a:t>- Database service declared in docker-compose.yml: MySQL 8.4 / entok_db; live service unavailable during this documentation run.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Existing system-health service: frontend/src/services/systemHealth.ts menyediakan indikator database, realtime, dan perangkat; bukan modul kesehatan ternak.</a:t>
            </a:r>
          </a:p>
          <a:p xmlns:a="http://schemas.openxmlformats.org/drawingml/2006/main">
            <a:r>
              <a:t>- Aset visual: frontend/public/images/white_duck_login.png (local project asset).</a:t>
            </a:r>
          </a:p>
          <a:p xmlns:a="http://schemas.openxmlformats.org/drawingml/2006/main">
            <a:r>
              <a:t>- Struktur triase dan review adalah rancangan usulan.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Ultralytics modes: https://docs.ultralytics.com/modes — lifecycle includes train, val, predict, export, track, and benchmark.</a:t>
            </a:r>
          </a:p>
          <a:p xmlns:a="http://schemas.openxmlformats.org/drawingml/2006/main">
            <a:r>
              <a:t>- Rencana implementasi adalah usulan teknis yang disesuaikan dengan stack ENTOK saat ini: Flask + SQLAlchemy + MySQL.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012e31d49a4f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b2f87ee4a7a4421" /><Relationship Type="http://schemas.openxmlformats.org/officeDocument/2006/relationships/slideLayout" Target="/ppt/slideLayouts/slideLayout1.xml" Id="Rb7727d59306344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727d59306344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68d7df87f49bd" /><Relationship Type="http://schemas.openxmlformats.org/officeDocument/2006/relationships/image" Target="/ppt/media/image.png" Id="R5e3821e09f0c4b6d" /><Relationship Type="http://schemas.openxmlformats.org/officeDocument/2006/relationships/notesSlide" Target="/ppt/notesSlides/notesSlide1.xml" Id="R38150ff0133e4e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f049d2eff4c8e" /><Relationship Type="http://schemas.openxmlformats.org/officeDocument/2006/relationships/notesSlide" Target="/ppt/notesSlides/notesSlide2.xml" Id="R294e194b7c9e4f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057706de040fd" /><Relationship Type="http://schemas.openxmlformats.org/officeDocument/2006/relationships/image" Target="/ppt/media/image.jpeg" Id="R74c2eac595054fcf" /><Relationship Type="http://schemas.openxmlformats.org/officeDocument/2006/relationships/notesSlide" Target="/ppt/notesSlides/notesSlide3.xml" Id="R5dcff2617e1048c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79ada3279b430a" /><Relationship Type="http://schemas.openxmlformats.org/officeDocument/2006/relationships/notesSlide" Target="/ppt/notesSlides/notesSlide4.xml" Id="R104b935144eb44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7a91d3751494f" /><Relationship Type="http://schemas.openxmlformats.org/officeDocument/2006/relationships/notesSlide" Target="/ppt/notesSlides/notesSlide5.xml" Id="Re343cfc659aa435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2595cbf474c0f" /><Relationship Type="http://schemas.openxmlformats.org/officeDocument/2006/relationships/image" Target="/ppt/media/image2.jpeg" Id="R4ce1755c70da4ac6" /><Relationship Type="http://schemas.openxmlformats.org/officeDocument/2006/relationships/notesSlide" Target="/ppt/notesSlides/notesSlide6.xml" Id="R3ce6483e1124417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bef52584e44bf8" /><Relationship Type="http://schemas.openxmlformats.org/officeDocument/2006/relationships/notesSlide" Target="/ppt/notesSlides/notesSlide7.xml" Id="R9d676a36e77c472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6DA75D-3D30-4BC3-A719-D05F6DF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DOKUMENTASI RANCANGAN FITUR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A8EBE-9E4C-4CC1-AF49-DC3433ED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5095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4212B"/>
                </a:solidFill>
              </a:defRPr>
            </a:pPr>
            <a:r>
              <a:rPr sz="4650" b="1">
                <a:solidFill>
                  <a:srgbClr val="14212B"/>
                </a:solidFill>
              </a:rPr>
              <a:t>Kesehatan Entok</a:t>
            </a:r>
          </a:p>
          <a:p xmlns:a="http://schemas.openxmlformats.org/drawingml/2006/main">
            <a:pPr algn="l">
              <a:defRPr sz="4650" b="1">
                <a:solidFill>
                  <a:srgbClr val="14212B"/>
                </a:solidFill>
              </a:defRPr>
            </a:pPr>
            <a:r>
              <a:rPr sz="4650" b="1">
                <a:solidFill>
                  <a:srgbClr val="14212B"/>
                </a:solidFill>
              </a:rPr>
              <a:t>berbasis YOLO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7D885-38D0-49D2-B3CD-0440F758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118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solidFill>
              <a:srgbClr val="0E9F9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7B3D3-C940-417D-978E-7F58B300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B73"/>
                </a:solidFill>
              </a:defRPr>
            </a:pPr>
            <a:r>
              <a:rPr sz="1725" b="0">
                <a:solidFill>
                  <a:srgbClr val="5F6B73"/>
                </a:solidFill>
              </a:rPr>
              <a:t>Sistem deteksi visual untuk membantu pengamatan awal, pencatatan bukti, dan tindak lanjut oleh peternak.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07B826-B363-42A6-8BAD-7B67F735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6B73"/>
                </a:solidFill>
              </a:defRPr>
            </a:pPr>
            <a:r>
              <a:rPr sz="1050" b="1">
                <a:solidFill>
                  <a:srgbClr val="5F6B73"/>
                </a:solidFill>
              </a:rPr>
              <a:t>ENTOK WEB · RANCANGAN FITUR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3821e09f0c4b6d"/>
          <a:srcRect xmlns:a="http://schemas.openxmlformats.org/drawingml/2006/main" l="24003" t="0" r="240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552450"/>
            <a:ext cx="5314950" cy="5753100"/>
          </a:xfrm>
          <a:prstGeom xmlns:a="http://schemas.openxmlformats.org/drawingml/2006/main" prst="roundRect">
            <a:avLst>
              <a:gd name="adj" fmla="val 2151"/>
            </a:avLst>
          </a:prstGeom>
        </p:spPr>
      </p:pic>
    </p:spTree>
    <p:extLst>
      <p:ext uri="{BB962C8B-B14F-4D97-AF65-F5344CB8AC3E}">
        <p14:creationId xmlns:p14="http://schemas.microsoft.com/office/powerpoint/2010/main" val="8699747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094991-5FF0-4B7C-8019-C7DB0652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STATUS SAAT INI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913F90-4732-49B8-8E35-E9FA1EBC8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</a:defRPr>
            </a:pPr>
            <a:r>
              <a:rPr sz="2700" b="1">
                <a:solidFill>
                  <a:srgbClr val="14212B"/>
                </a:solidFill>
              </a:rPr>
              <a:t>Fondasi web sudah ada; modul YOLO perlu ditambahkan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F2CBA-6C0B-4A19-8163-82C76802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FB9C0-8462-4334-999C-CD9F97CD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76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3"/>
                </a:solidFill>
              </a:defRPr>
            </a:pPr>
            <a:r>
              <a:rPr sz="975" b="1">
                <a:solidFill>
                  <a:srgbClr val="5F6B7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F4A84-56C9-4C21-B691-D5B4BFF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2B"/>
                </a:solidFill>
              </a:defRPr>
            </a:pPr>
            <a:r>
              <a:rPr sz="1875" b="1">
                <a:solidFill>
                  <a:srgbClr val="14212B"/>
                </a:solidFill>
              </a:rPr>
              <a:t>Yang sudah tersedia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18398-555A-4A61-9A01-25314772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42100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3"/>
                </a:solidFill>
              </a:defRPr>
            </a:pPr>
            <a:r>
              <a:rPr sz="1650" b="0">
                <a:solidFill>
                  <a:srgbClr val="5F6B73"/>
                </a:solidFill>
              </a:rPr>
              <a:t>Flask API, SQLAlchemy, migrasi database, MySQL, data populasi, dan status perangkat/sistem.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425A1-4125-4ED7-81A6-1816F3EE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421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solidFill>
              <a:srgbClr val="0E9F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260FF-8C0F-46A9-95D2-2695074AB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2B"/>
                </a:solidFill>
              </a:defRPr>
            </a:pPr>
            <a:r>
              <a:rPr sz="1425" b="0">
                <a:solidFill>
                  <a:srgbClr val="14212B"/>
                </a:solidFill>
              </a:rPr>
              <a:t>Data populasi bisa menjadi konteks setiap pemeriksaan kesehatan.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6E0BA-A890-40BE-89E8-05D91E01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2B"/>
                </a:solidFill>
              </a:defRPr>
            </a:pPr>
            <a:r>
              <a:rPr sz="1875" b="1">
                <a:solidFill>
                  <a:srgbClr val="14212B"/>
                </a:solidFill>
              </a:rPr>
              <a:t>Yang diusulkan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B63CF-07A1-4BA9-821B-DA5F9F91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9825"/>
            <a:ext cx="44577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B73"/>
                </a:solidFill>
              </a:defRPr>
            </a:pPr>
            <a:r>
              <a:rPr sz="1650" b="0">
                <a:solidFill>
                  <a:srgbClr val="5F6B73"/>
                </a:solidFill>
              </a:rPr>
              <a:t>Model YOLO terlatih, API pemeriksaan kesehatan, tabel hasil deteksi, media bukti, aturan peringatan, dan halaman triase.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F8CA7D-FF0C-4921-92D6-9A1C753B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24300"/>
            <a:ext cx="4457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solidFill>
              <a:srgbClr val="0E9F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8F58F-E2AE-4F96-AFB3-C902F929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43375"/>
            <a:ext cx="4457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2B"/>
                </a:solidFill>
              </a:defRPr>
            </a:pPr>
            <a:r>
              <a:rPr sz="1425" b="0">
                <a:solidFill>
                  <a:srgbClr val="14212B"/>
                </a:solidFill>
              </a:rPr>
              <a:t>Semua diberi status RANCANGAN sampai model dan API benar-benar diimplementasikan.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235A09-0BE8-4A66-8A77-DD84B2B1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15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</a:defRPr>
            </a:pPr>
            <a:r>
              <a:rPr sz="1200" b="0">
                <a:solidFill>
                  <a:srgbClr val="5F6B73"/>
                </a:solidFill>
              </a:rPr>
              <a:t>Catatan penting: pemeriksaan kondisi Docker menunjukkan layanan MySQL tidak sedang tersedia, sehingga skema database pada slide berikutnya bukan tangkapan layar database hidup.</a:t>
            </a:r>
          </a:p>
        </p:txBody>
      </p:sp>
    </p:spTree>
    <p:extLst>
      <p:ext uri="{BB962C8B-B14F-4D97-AF65-F5344CB8AC3E}">
        <p14:creationId xmlns:p14="http://schemas.microsoft.com/office/powerpoint/2010/main" val="20907768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100C37-98AF-4447-98D3-399D0FDE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PRINSIP DETEKSI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B0C931-EE28-44AF-A59D-406ED0D5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</a:defRPr>
            </a:pPr>
            <a:r>
              <a:rPr sz="2700" b="1">
                <a:solidFill>
                  <a:srgbClr val="14212B"/>
                </a:solidFill>
              </a:rPr>
              <a:t>YOLO menghasilkan sinyal visual, bukan diagnosis otomatis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E4278-2A7E-4D20-923C-9201B989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938172-DF4A-487A-8945-F1E41AB69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76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3"/>
                </a:solidFill>
              </a:defRPr>
            </a:pPr>
            <a:r>
              <a:rPr sz="975" b="1">
                <a:solidFill>
                  <a:srgbClr val="5F6B73"/>
                </a:solidFill>
              </a:rPr>
              <a:t>03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c2eac595054fcf"/>
          <a:srcRect xmlns:a="http://schemas.openxmlformats.org/drawingml/2006/main" l="1190" t="0" r="119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57375"/>
            <a:ext cx="3905250" cy="400050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182BA0-27A6-45A1-A1B0-8DF93773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9621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212B"/>
                </a:solidFill>
              </a:defRPr>
            </a:pPr>
            <a:r>
              <a:rPr sz="1800" b="1">
                <a:solidFill>
                  <a:srgbClr val="14212B"/>
                </a:solidFill>
              </a:rPr>
              <a:t>Untuk setiap frame, sistem menyimpan bukti yang dapat ditinjau: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2C2718-A8A9-4424-92B4-4799300A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479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9F9A"/>
                </a:solidFill>
              </a:defRPr>
            </a:pPr>
            <a:r>
              <a:rPr sz="1575" b="1">
                <a:solidFill>
                  <a:srgbClr val="0E9F9A"/>
                </a:solidFill>
              </a:rPr>
              <a:t>Label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A939B8-D1CF-42DC-8544-F35F41F36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3"/>
                </a:solidFill>
              </a:defRPr>
            </a:pPr>
            <a:r>
              <a:rPr sz="1425" b="0">
                <a:solidFill>
                  <a:srgbClr val="5F6B73"/>
                </a:solidFill>
              </a:rPr>
              <a:t>kategori visual yang dilatih pada dataset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70594F-D249-4DA3-8867-712F18F7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52775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38E76C-05EF-4F41-BE84-AD81D1E32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909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9F9A"/>
                </a:solidFill>
              </a:defRPr>
            </a:pPr>
            <a:r>
              <a:rPr sz="1575" b="1">
                <a:solidFill>
                  <a:srgbClr val="0E9F9A"/>
                </a:solidFill>
              </a:rPr>
              <a:t>Kepercayaan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DA938-A5FA-4578-AAE0-B290BFDC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3"/>
                </a:solidFill>
              </a:defRPr>
            </a:pPr>
            <a:r>
              <a:rPr sz="1425" b="0">
                <a:solidFill>
                  <a:srgbClr val="5F6B73"/>
                </a:solidFill>
              </a:rPr>
              <a:t>skor keyakinan model untuk hasil tersebut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82503-057C-483C-99BB-B7D30DB5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895725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7D2AD-9BBA-4B43-99A7-88CE4887E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133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9F9A"/>
                </a:solidFill>
              </a:defRPr>
            </a:pPr>
            <a:r>
              <a:rPr sz="1575" b="1">
                <a:solidFill>
                  <a:srgbClr val="0E9F9A"/>
                </a:solidFill>
              </a:rPr>
              <a:t>Lokasi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B9226E-CD0B-4D63-9CE1-9AB0F155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3385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3"/>
                </a:solidFill>
              </a:defRPr>
            </a:pPr>
            <a:r>
              <a:rPr sz="1425" b="0">
                <a:solidFill>
                  <a:srgbClr val="5F6B73"/>
                </a:solidFill>
              </a:rPr>
              <a:t>bounding box sebagai posisi objek pada gambar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B97A39-3029-4FEF-BCF7-4B2BA806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38675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BB842F-D3E7-4A1E-AD0B-EA96BBB1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76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9F9A"/>
                </a:solidFill>
              </a:defRPr>
            </a:pPr>
            <a:r>
              <a:rPr sz="1575" b="1">
                <a:solidFill>
                  <a:srgbClr val="0E9F9A"/>
                </a:solidFill>
              </a:rPr>
              <a:t>Waktu &amp; bukti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92201F-D5F0-4015-ADC7-52E9EEA5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76800"/>
            <a:ext cx="4114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B73"/>
                </a:solidFill>
              </a:defRPr>
            </a:pPr>
            <a:r>
              <a:rPr sz="1425" b="0">
                <a:solidFill>
                  <a:srgbClr val="5F6B73"/>
                </a:solidFill>
              </a:rPr>
              <a:t>timestamp, sumber kamera, dan media pendukung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F9E087-CFD3-4E16-AD28-A4F409C6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58293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0E5"/>
          </a:solidFill>
          <a:ln xmlns:a="http://schemas.openxmlformats.org/drawingml/2006/main" w="9525">
            <a:solidFill>
              <a:srgbClr val="F9F0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76016"/>
                </a:solidFill>
              </a:defRPr>
            </a:pPr>
            <a:r>
              <a:rPr sz="1275" b="0">
                <a:solidFill>
                  <a:srgbClr val="A76016"/>
                </a:solidFill>
              </a:rPr>
              <a:t>Keputusan perawatan tetap diverifikasi manusia. Sistem hanya memprioritaskan pemeriksaan berdasarkan bukti visual.</a:t>
            </a:r>
          </a:p>
        </p:txBody>
      </p:sp>
    </p:spTree>
    <p:extLst>
      <p:ext uri="{BB962C8B-B14F-4D97-AF65-F5344CB8AC3E}">
        <p14:creationId xmlns:p14="http://schemas.microsoft.com/office/powerpoint/2010/main" val="891300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32543A-9E48-44F2-BCEB-2259EACA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ALUR DATA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D684B-AE74-4AF5-814A-FCF5424A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</a:defRPr>
            </a:pPr>
            <a:r>
              <a:rPr sz="2700" b="1">
                <a:solidFill>
                  <a:srgbClr val="14212B"/>
                </a:solidFill>
              </a:rPr>
              <a:t>Dari frame kamera ke pemeriksaan yang ditindaklanjuti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C313B-1478-42B6-8176-18A42F9FE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7D3DD-FD48-4B81-97E8-D56BA4ED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76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3"/>
                </a:solidFill>
              </a:defRPr>
            </a:pPr>
            <a:r>
              <a:rPr sz="975" b="1">
                <a:solidFill>
                  <a:srgbClr val="5F6B7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D554C8-89DA-496A-A771-BFD9AA49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242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E5F5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222D47-BE34-4D34-A669-F33217B7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242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E5F5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7D584-BB8C-4DA8-9084-36465783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242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E5F5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8F3CE-765A-4C8D-8966-A276F810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124200"/>
            <a:ext cx="4000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E5F5F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E6628D-CA30-4178-B111-8F6C28E76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714500" cy="1809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3DCD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18A3E-0F8F-488B-B760-8CD073ED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050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9A"/>
                </a:solidFill>
              </a:defRPr>
            </a:pPr>
            <a:r>
              <a:rPr sz="1125" b="1">
                <a:solidFill>
                  <a:srgbClr val="0E9F9A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6E7471-F175-4D62-BDE1-BFC247BC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Kamera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D918B1-DD36-4FC3-90A4-0AF1109C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frame</a:t>
            </a:r>
          </a:p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kandang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7EB4F4-84B7-49A6-AD24-44099778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33625"/>
            <a:ext cx="1714500" cy="1809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3DCD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372F9-3123-486B-893C-57B074A0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050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9A"/>
                </a:solidFill>
              </a:defRPr>
            </a:pPr>
            <a:r>
              <a:rPr sz="1125" b="1">
                <a:solidFill>
                  <a:srgbClr val="0E9F9A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9B6892-02E4-42C5-B514-E2161F9F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24175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YOLO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614E0-9255-4E3F-972E-021120206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40042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deteksi</a:t>
            </a:r>
          </a:p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visual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2EF86A-043E-4A16-ACC7-E0023748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33625"/>
            <a:ext cx="1714500" cy="1809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3DC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D0C25F-A9F4-4C39-A840-82ED4828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050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9A"/>
                </a:solidFill>
              </a:defRPr>
            </a:pPr>
            <a:r>
              <a:rPr sz="1125" b="1">
                <a:solidFill>
                  <a:srgbClr val="0E9F9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6AF5AC-1D1A-44BA-A7E2-7CC6F1B8A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24175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Aturan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552DE8-4185-4F0F-909D-6A8BFE06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40042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saring skor &amp;</a:t>
            </a:r>
          </a:p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pola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99E336-7DEA-45F5-B5BC-E16AE0DE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33625"/>
            <a:ext cx="1714500" cy="1809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3DCD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456D93-FD37-460F-B18A-E40DF8AA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050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9A"/>
                </a:solidFill>
              </a:defRPr>
            </a:pPr>
            <a:r>
              <a:rPr sz="1125" b="1">
                <a:solidFill>
                  <a:srgbClr val="0E9F9A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83C9A4-30B8-4F89-AC51-329C5F47D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24175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API + DB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CF68A5-66A4-4731-B561-6F6CA610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0042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simpan</a:t>
            </a:r>
          </a:p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event + bukti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4A72DE-CB8E-4836-B7FE-175E01C9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33625"/>
            <a:ext cx="1714500" cy="1809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3DCD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E8D037-917D-46C9-8599-0498D73B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0507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9A"/>
                </a:solidFill>
              </a:defRPr>
            </a:pPr>
            <a:r>
              <a:rPr sz="1125" b="1">
                <a:solidFill>
                  <a:srgbClr val="0E9F9A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7D1F74-C0F9-406B-B005-AA27A497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24175"/>
            <a:ext cx="1371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212B"/>
                </a:solidFill>
              </a:defRPr>
            </a:pPr>
            <a:r>
              <a:rPr sz="1725" b="1">
                <a:solidFill>
                  <a:srgbClr val="14212B"/>
                </a:solidFill>
              </a:rPr>
              <a:t>Tinjau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35AE85-9601-4899-8058-3165E010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0425"/>
            <a:ext cx="1371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verifikasi</a:t>
            </a:r>
          </a:p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tindakan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B8065D-CCD7-4BAD-8B75-DD9E653F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4212B"/>
                </a:solidFill>
              </a:defRPr>
            </a:pPr>
            <a:r>
              <a:rPr sz="1650" b="0">
                <a:solidFill>
                  <a:srgbClr val="14212B"/>
                </a:solidFill>
              </a:rPr>
              <a:t>Data disimpan sebagai jejak pemeriksaan: siapa/kapan/sumber/bukti/hasil tinjauan. Ini membuat peringatan dapat diaudit dan dikoreksi.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E36D1E-747A-464F-BE8F-25E78BB9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00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solidFill>
              <a:srgbClr val="0E9F9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CEBFD3-9BFC-412B-AB0A-6954897B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38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</a:defRPr>
            </a:pPr>
            <a:r>
              <a:rPr sz="1200" b="0">
                <a:solidFill>
                  <a:srgbClr val="5F6B73"/>
                </a:solidFill>
              </a:rPr>
              <a:t>Output untuk web: daftar pemeriksaan terbaru, status tinjauan, dan bukti gambar per event.</a:t>
            </a:r>
          </a:p>
        </p:txBody>
      </p:sp>
    </p:spTree>
    <p:extLst>
      <p:ext uri="{BB962C8B-B14F-4D97-AF65-F5344CB8AC3E}">
        <p14:creationId xmlns:p14="http://schemas.microsoft.com/office/powerpoint/2010/main" val="2106023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DFED59-CCB0-456D-B938-3F86AB40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RANCANGAN DATABASE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BEC5B5-2270-4DB4-A312-2432955A3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</a:defRPr>
            </a:pPr>
            <a:r>
              <a:rPr sz="2700" b="1">
                <a:solidFill>
                  <a:srgbClr val="14212B"/>
                </a:solidFill>
              </a:rPr>
              <a:t>Event dan deteksi disimpan secara terpisah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025087-E6D8-4F5C-A018-ECE623D0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3D1D16-771C-48BB-8A4A-BD7F48C67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76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3"/>
                </a:solidFill>
              </a:defRPr>
            </a:pPr>
            <a:r>
              <a:rPr sz="975" b="1">
                <a:solidFill>
                  <a:srgbClr val="5F6B7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E6CE0-D606-4BEE-971F-8EDE1A6A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52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</a:defRPr>
            </a:pPr>
            <a:r>
              <a:rPr sz="1200" b="0">
                <a:solidFill>
                  <a:srgbClr val="5F6B73"/>
                </a:solidFill>
              </a:rPr>
              <a:t>Visual ini menggantikan screenshot database hidup: layanan MySQL tidak aktif saat dokumentasi dibuat.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AB273-F2AE-4CD5-A989-479841E6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48050"/>
            <a:ext cx="704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E5F5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FF640-4A0E-49D2-A3A2-07E29754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448050"/>
            <a:ext cx="7048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E5F5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DB63DA-4836-4B01-9644-286A1D6F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028950" cy="3162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3DCD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941AB-0D3F-456E-A6D7-8638457D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9A"/>
                </a:solidFill>
              </a:defRPr>
            </a:pPr>
            <a:r>
              <a:rPr sz="900" b="1">
                <a:solidFill>
                  <a:srgbClr val="0E9F9A"/>
                </a:solidFill>
              </a:rPr>
              <a:t>KONTEKS POPULASI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373CA-4CAB-4DE0-801A-863AB73D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289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2B"/>
                </a:solidFill>
              </a:defRPr>
            </a:pPr>
            <a:r>
              <a:rPr sz="1500" b="1">
                <a:solidFill>
                  <a:srgbClr val="14212B"/>
                </a:solidFill>
              </a:rPr>
              <a:t>populations (sudah ada)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3418C8-6A0D-4729-AA7D-4A2E4208C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C00B5-93F3-4466-A480-6C69BB6D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A133F0-A9A4-4FC4-A035-C7996D86D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242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phase_id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987D94-B4C4-4B3F-A4CE-E5F41D59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19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phase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6C75CD-9035-41C0-8711-C0487F23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148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total_ducks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7AF0E-03C9-4501-A259-D30A309B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0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updated_at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7A7226-F7C0-4786-A60E-61EC493C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324100"/>
            <a:ext cx="3028950" cy="3162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D3DCD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B3820-5219-4076-BAC2-5E8406A9D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14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9A"/>
                </a:solidFill>
              </a:defRPr>
            </a:pPr>
            <a:r>
              <a:rPr sz="900" b="1">
                <a:solidFill>
                  <a:srgbClr val="0E9F9A"/>
                </a:solidFill>
              </a:rPr>
              <a:t>1 EVENT PEMERIKSAAN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6D552F-C98E-42F9-B5F3-22298B10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8289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2B"/>
                </a:solidFill>
              </a:defRPr>
            </a:pPr>
            <a:r>
              <a:rPr sz="1500" b="1">
                <a:solidFill>
                  <a:srgbClr val="14212B"/>
                </a:solidFill>
              </a:rPr>
              <a:t>health_checks (usulan)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74B269-9488-4B66-9D2D-25A6C1D04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385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479A6-0862-4D48-9B33-DD01EB88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429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id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9C4DC0-11B1-425F-9130-75C631A2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7242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population_id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9E7123-22E0-481C-A9BE-06839A86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019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source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A8A9D-26DF-41A4-831B-203E141F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3148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captured_at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FDBC68-8A32-491B-ABA0-FB7B966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610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status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58BAB-1DC0-4587-909A-A26B3D5A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9053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reviewed_by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BF3987-1755-426F-85C7-3DF1B91A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028950" cy="3162300"/>
          </a:xfrm>
          <a:prstGeom xmlns:a="http://schemas.openxmlformats.org/drawingml/2006/main" prst="roundRect">
            <a:avLst>
              <a:gd name="adj" fmla="val 3774"/>
            </a:avLst>
          </a:prstGeom>
          <a:solidFill xmlns:a="http://schemas.openxmlformats.org/drawingml/2006/main">
            <a:srgbClr val="F3F5F5"/>
          </a:solidFill>
          <a:ln xmlns:a="http://schemas.openxmlformats.org/drawingml/2006/main" w="9525">
            <a:solidFill>
              <a:srgbClr val="D3DCD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2856D-7442-4436-A69A-C1DA9D20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E9F9A"/>
                </a:solidFill>
              </a:defRPr>
            </a:pPr>
            <a:r>
              <a:rPr sz="900" b="1">
                <a:solidFill>
                  <a:srgbClr val="0E9F9A"/>
                </a:solidFill>
              </a:rPr>
              <a:t>N DETEKSI / 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F4E893-4357-4AE3-8DF8-3FA3BF27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28925"/>
            <a:ext cx="2647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4212B"/>
                </a:solidFill>
              </a:defRPr>
            </a:pPr>
            <a:r>
              <a:rPr sz="1500" b="1">
                <a:solidFill>
                  <a:srgbClr val="14212B"/>
                </a:solidFill>
              </a:rPr>
              <a:t>health_detections (usulan)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CD4C63-884F-45F7-BD45-562AB3DA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238500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E7C939-8486-4732-A47C-6B024173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212B"/>
                </a:solidFill>
              </a:defRPr>
            </a:pPr>
            <a:r>
              <a:rPr sz="1275" b="1">
                <a:solidFill>
                  <a:srgbClr val="14212B"/>
                </a:solidFill>
              </a:rPr>
              <a:t>id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0D8142-D121-4CD5-BE59-C352CD40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242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health_check_id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DBD8DF-258E-4E31-ABEB-D1B532B8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195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label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133E4D-AEFD-4BB0-959A-3AE1D0BD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1482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confidence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6E7044-862A-4272-890C-387A75760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61010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bbox_json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B7FB36-86E6-4718-8C16-BCAF5297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905375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B73"/>
                </a:solidFill>
              </a:defRPr>
            </a:pPr>
            <a:r>
              <a:rPr sz="1275" b="0">
                <a:solidFill>
                  <a:srgbClr val="5F6B73"/>
                </a:solidFill>
              </a:rPr>
              <a:t>evidence_url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4B164A-93BC-4807-91BE-B0498F84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4212B"/>
                </a:solidFill>
              </a:defRPr>
            </a:pPr>
            <a:r>
              <a:rPr sz="1350" b="0">
                <a:solidFill>
                  <a:srgbClr val="14212B"/>
                </a:solidFill>
              </a:rPr>
              <a:t>Relasi utama: satu populasi memiliki banyak health_checks; satu health_check memiliki banyak health_detections.</a:t>
            </a:r>
          </a:p>
        </p:txBody>
      </p:sp>
    </p:spTree>
    <p:extLst>
      <p:ext uri="{BB962C8B-B14F-4D97-AF65-F5344CB8AC3E}">
        <p14:creationId xmlns:p14="http://schemas.microsoft.com/office/powerpoint/2010/main" val="20730479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2070AE-2CE8-4188-94BF-02A87FC5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PENGALAMAN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567FBA-E9F5-4568-A1F9-3F2F6B77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</a:defRPr>
            </a:pPr>
            <a:r>
              <a:rPr sz="2700" b="1">
                <a:solidFill>
                  <a:srgbClr val="14212B"/>
                </a:solidFill>
              </a:rPr>
              <a:t>Halaman Kesehatan sebaiknya memusatkan triase dan bukti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CD788-28E5-4836-8B20-DFDDB385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8ED71-0F4D-41D7-B567-02EA1462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76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3"/>
                </a:solidFill>
              </a:defRPr>
            </a:pPr>
            <a:r>
              <a:rPr sz="975" b="1">
                <a:solidFill>
                  <a:srgbClr val="5F6B73"/>
                </a:solidFill>
              </a:rPr>
              <a:t>06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1755c70da4ac6"/>
          <a:srcRect xmlns:a="http://schemas.openxmlformats.org/drawingml/2006/main" l="980" t="0" r="9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66900"/>
            <a:ext cx="3810000" cy="3886200"/>
          </a:xfrm>
          <a:prstGeom xmlns:a="http://schemas.openxmlformats.org/drawingml/2006/main" prst="roundRect">
            <a:avLst>
              <a:gd name="adj" fmla="val 3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F089C7-3372-474F-8355-CE853446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62150"/>
            <a:ext cx="5562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2B"/>
                </a:solidFill>
              </a:defRPr>
            </a:pPr>
            <a:r>
              <a:rPr sz="1875" b="1">
                <a:solidFill>
                  <a:srgbClr val="14212B"/>
                </a:solidFill>
              </a:rPr>
              <a:t>Bukan sekadar memberi label — halaman perlu membuat pemeriksaan cepat, jelas, dan dapat ditelusuri.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0990C-C582-4F8C-A01D-BFDC0FDA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813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9F9A"/>
                </a:solidFill>
              </a:defRPr>
            </a:pPr>
            <a:r>
              <a:rPr sz="1800" b="1">
                <a:solidFill>
                  <a:srgbClr val="0E9F9A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1525F-B38D-4A24-AFE7-D1BED788A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813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</a:defRPr>
            </a:pPr>
            <a:r>
              <a:rPr sz="1650" b="1">
                <a:solidFill>
                  <a:srgbClr val="14212B"/>
                </a:solidFill>
              </a:rPr>
              <a:t>Ringkasan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25C076-AE84-440F-8B8E-57B7CFBE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003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</a:defRPr>
            </a:pPr>
            <a:r>
              <a:rPr sz="1350" b="0">
                <a:solidFill>
                  <a:srgbClr val="5F6B73"/>
                </a:solidFill>
              </a:rPr>
              <a:t>jumlah event baru, prioritas, dan status tinjauan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81A9B-8BB9-429C-968C-0CBAA27BE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52825"/>
            <a:ext cx="584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23280-517C-42A2-8C36-2FA9D43A3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576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9F9A"/>
                </a:solidFill>
              </a:defRPr>
            </a:pPr>
            <a:r>
              <a:rPr sz="1800" b="1">
                <a:solidFill>
                  <a:srgbClr val="0E9F9A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41B81-438B-4159-A222-BB1586B6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576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</a:defRPr>
            </a:pPr>
            <a:r>
              <a:rPr sz="1650" b="1">
                <a:solidFill>
                  <a:srgbClr val="14212B"/>
                </a:solidFill>
              </a:rPr>
              <a:t>Bukti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8CACC-E481-4B5E-A6C6-82F9D68D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766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</a:defRPr>
            </a:pPr>
            <a:r>
              <a:rPr sz="1350" b="0">
                <a:solidFill>
                  <a:srgbClr val="5F6B73"/>
                </a:solidFill>
              </a:rPr>
              <a:t>gambar/frame, label, skor, sumber kamera, dan waktu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EDC5E6-4AC9-4D6B-A10D-3E651350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429125"/>
            <a:ext cx="5848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12550B-5337-4284-B422-0D80D29F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733925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9F9A"/>
                </a:solidFill>
              </a:defRPr>
            </a:pPr>
            <a:r>
              <a:rPr sz="1800" b="1">
                <a:solidFill>
                  <a:srgbClr val="0E9F9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F52E7-A708-4621-8A7F-FE6995678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7339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212B"/>
                </a:solidFill>
              </a:defRPr>
            </a:pPr>
            <a:r>
              <a:rPr sz="1650" b="1">
                <a:solidFill>
                  <a:srgbClr val="14212B"/>
                </a:solidFill>
              </a:rPr>
              <a:t>Keputusan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E0067-B6B7-43C1-8884-7F00CAC6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52975"/>
            <a:ext cx="3810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</a:defRPr>
            </a:pPr>
            <a:r>
              <a:rPr sz="1350" b="0">
                <a:solidFill>
                  <a:srgbClr val="5F6B73"/>
                </a:solidFill>
              </a:rPr>
              <a:t>verifikasi peternak, catatan tindakan, atau tandai false positive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87C42-0B91-4D7B-819E-5850FA53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619750"/>
            <a:ext cx="584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E5F5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4212B"/>
                </a:solidFill>
              </a:defRPr>
            </a:pPr>
            <a:r>
              <a:rPr sz="1275" b="0">
                <a:solidFill>
                  <a:srgbClr val="14212B"/>
                </a:solidFill>
              </a:rPr>
              <a:t>Kunci UX: setiap peringatan harus punya bukti, pemilik keputusan, dan status penyelesaian.</a:t>
            </a:r>
          </a:p>
        </p:txBody>
      </p:sp>
    </p:spTree>
    <p:extLst>
      <p:ext uri="{BB962C8B-B14F-4D97-AF65-F5344CB8AC3E}">
        <p14:creationId xmlns:p14="http://schemas.microsoft.com/office/powerpoint/2010/main" val="9273444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80175C-2F0E-47C3-A093-2863B32E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9F9A"/>
                </a:solidFill>
              </a:defRPr>
            </a:pPr>
            <a:r>
              <a:rPr sz="975" b="1">
                <a:solidFill>
                  <a:srgbClr val="0E9F9A"/>
                </a:solidFill>
              </a:rPr>
              <a:t>IMPLEMENTASI BERTAHAP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988653-B784-4EA1-9DF9-2F3C227E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212B"/>
                </a:solidFill>
              </a:defRPr>
            </a:pPr>
            <a:r>
              <a:rPr sz="2700" b="1">
                <a:solidFill>
                  <a:srgbClr val="14212B"/>
                </a:solidFill>
              </a:rPr>
              <a:t>Bukti yang dapat dipercaya mempercepat pemeriksaan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E23777-D503-495F-A32B-4C49CF4BC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3827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DCDD"/>
          </a:solidFill>
          <a:ln xmlns:a="http://schemas.openxmlformats.org/drawingml/2006/main" w="0">
            <a:solidFill>
              <a:srgbClr val="D3DCD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3FF6EE-89F6-4053-8480-FFA32A2DF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476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3"/>
                </a:solidFill>
              </a:defRPr>
            </a:pPr>
            <a:r>
              <a:rPr sz="975" b="1">
                <a:solidFill>
                  <a:srgbClr val="5F6B7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2A9BF-050F-4516-A1CA-92BC62B07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71850"/>
            <a:ext cx="3619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E5F5F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E10130-F35E-42AF-B62A-25E8CAA32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371850"/>
            <a:ext cx="3619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E5F5F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A32CF-C61E-4C18-BEAA-EA1C427C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71850"/>
            <a:ext cx="361950" cy="14287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5F5F3"/>
          </a:solidFill>
          <a:ln xmlns:a="http://schemas.openxmlformats.org/drawingml/2006/main" w="9525">
            <a:solidFill>
              <a:srgbClr val="E5F5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8ADC9-40B1-4ACA-B562-2A1E0084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9A"/>
                </a:solidFill>
              </a:defRPr>
            </a:pPr>
            <a:r>
              <a:rPr sz="1125" b="1">
                <a:solidFill>
                  <a:srgbClr val="0E9F9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F638B-84E6-4A69-90C2-A917D323B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2B"/>
                </a:solidFill>
              </a:defRPr>
            </a:pPr>
            <a:r>
              <a:rPr sz="1950" b="1">
                <a:solidFill>
                  <a:srgbClr val="14212B"/>
                </a:solidFill>
              </a:rPr>
              <a:t>Dataset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899ED9-F388-4DE6-ADDA-F1792F4B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</a:defRPr>
            </a:pPr>
            <a:r>
              <a:rPr sz="1350" b="0">
                <a:solidFill>
                  <a:srgbClr val="5F6B73"/>
                </a:solidFill>
              </a:rPr>
              <a:t>Kumpulkan dan anotasi kondisi visual yang benar-benar relevan di kandang.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7FEA6-1FAE-4AAE-87F3-8B180D20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66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9A"/>
                </a:solidFill>
              </a:defRPr>
            </a:pPr>
            <a:r>
              <a:rPr sz="1125" b="1">
                <a:solidFill>
                  <a:srgbClr val="0E9F9A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0652C6-9A3B-47D3-A7A9-45DE6543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2B"/>
                </a:solidFill>
              </a:defRPr>
            </a:pPr>
            <a:r>
              <a:rPr sz="1950" b="1">
                <a:solidFill>
                  <a:srgbClr val="14212B"/>
                </a:solidFill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233FAB-E248-4BF2-9766-C5B90D045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5280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</a:defRPr>
            </a:pPr>
            <a:r>
              <a:rPr sz="1350" b="0">
                <a:solidFill>
                  <a:srgbClr val="5F6B73"/>
                </a:solidFill>
              </a:rPr>
              <a:t>Latih YOLO, lalu nilai precision, recall, dan contoh false positive/negative.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C8926F-5DF8-4DB3-A0A0-C19BA468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9A"/>
                </a:solidFill>
              </a:defRPr>
            </a:pPr>
            <a:r>
              <a:rPr sz="1125" b="1">
                <a:solidFill>
                  <a:srgbClr val="0E9F9A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C4E37-386C-4D62-9622-3C88899E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2B"/>
                </a:solidFill>
              </a:defRPr>
            </a:pPr>
            <a:r>
              <a:rPr sz="1950" b="1">
                <a:solidFill>
                  <a:srgbClr val="14212B"/>
                </a:solidFill>
              </a:rPr>
              <a:t>Integrasi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47BA5-1036-44E8-AAB1-EEB03B43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5280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</a:defRPr>
            </a:pPr>
            <a:r>
              <a:rPr sz="1350" b="0">
                <a:solidFill>
                  <a:srgbClr val="5F6B73"/>
                </a:solidFill>
              </a:rPr>
              <a:t>Tambahkan model, migrasi tabel, API, penyimpanan bukti, serta halaman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72E17D-C506-4833-BBBD-A3C8E0692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669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E9F9A"/>
                </a:solidFill>
              </a:defRPr>
            </a:pPr>
            <a:r>
              <a:rPr sz="1125" b="1">
                <a:solidFill>
                  <a:srgbClr val="0E9F9A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0C980-13EE-4571-BDDC-18879585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2B"/>
                </a:solidFill>
              </a:defRPr>
            </a:pPr>
            <a:r>
              <a:rPr sz="1950" b="1">
                <a:solidFill>
                  <a:srgbClr val="14212B"/>
                </a:solidFill>
              </a:rPr>
              <a:t>Pilot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5B186-B14C-4D76-9D80-3846D036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52800"/>
            <a:ext cx="20383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F6B73"/>
                </a:solidFill>
              </a:defRPr>
            </a:pPr>
            <a:r>
              <a:rPr sz="1350" b="0">
                <a:solidFill>
                  <a:srgbClr val="5F6B73"/>
                </a:solidFill>
              </a:rPr>
              <a:t>Uji di alur peternak; perbaiki aturan alert dari hasil verifikasi lapangan.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453A88-6943-442D-8D1E-0F087066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9F9A"/>
          </a:solidFill>
          <a:ln xmlns:a="http://schemas.openxmlformats.org/drawingml/2006/main" w="0">
            <a:solidFill>
              <a:srgbClr val="0E9F9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735BE9-E788-4980-BE51-72882AD7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28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4212B"/>
                </a:solidFill>
              </a:defRPr>
            </a:pPr>
            <a:r>
              <a:rPr sz="2025" b="1">
                <a:solidFill>
                  <a:srgbClr val="14212B"/>
                </a:solidFill>
              </a:rPr>
              <a:t>Hasil akhir yang diharapkan: sistem membantu menentukan mana yang perlu diperiksa lebih dulu — tanpa menggantikan keputusan manusia.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99A93B-F3E9-4196-B32A-C53120DC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674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3"/>
                </a:solidFill>
              </a:defRPr>
            </a:pPr>
            <a:r>
              <a:rPr sz="1200" b="0">
                <a:solidFill>
                  <a:srgbClr val="5F6B73"/>
                </a:solidFill>
              </a:rPr>
              <a:t>Dokumentasi ini dapat menjadi dasar implementasi, demo fitur, dan bahan presentasi proyek.</a:t>
            </a:r>
          </a:p>
        </p:txBody>
      </p:sp>
    </p:spTree>
    <p:extLst>
      <p:ext uri="{BB962C8B-B14F-4D97-AF65-F5344CB8AC3E}">
        <p14:creationId xmlns:p14="http://schemas.microsoft.com/office/powerpoint/2010/main" val="748398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2026-08-17T20:42:48.0280000Z</dcterms:created>
  <dcterms:modified xsi:type="dcterms:W3CDTF">2026-08-17T20:42:48.0280000Z</dcterms:modified>
</coreProperties>
</file>